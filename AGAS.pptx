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646086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jpe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jpe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3" Type="http://schemas.openxmlformats.org/officeDocument/2006/relationships/image" Target="../media/image24.jpe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Relationship Id="rId9" Type="http://schemas.openxmlformats.org/officeDocument/2006/relationships/image" Target="../media/image3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7" Type="http://schemas.openxmlformats.org/officeDocument/2006/relationships/image" Target="../media/image3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5486400" cy="5143500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714375" y="1071563"/>
            <a:ext cx="4772025" cy="71437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5600"/>
              </a:lnSpc>
              <a:buNone/>
            </a:pPr>
            <a:r>
              <a:rPr lang="en-US" sz="518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AGAS</a:t>
            </a:r>
            <a:endParaRPr lang="en-US" sz="5182" dirty="0"/>
          </a:p>
        </p:txBody>
      </p:sp>
      <p:sp>
        <p:nvSpPr>
          <p:cNvPr id="5" name="Text 2"/>
          <p:cNvSpPr/>
          <p:nvPr/>
        </p:nvSpPr>
        <p:spPr>
          <a:xfrm>
            <a:off x="714375" y="2157413"/>
            <a:ext cx="3153107" cy="27199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FF6B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Automated Gas Alert System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714375" y="2571750"/>
            <a:ext cx="3571875" cy="7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269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Smart Gas Detection and Automatic Safety Response for Modern Environments</a:t>
            </a:r>
            <a:endParaRPr lang="en-US" sz="1269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alphaModFix amt="5000"/>
          </a:blip>
          <a:stretch>
            <a:fillRect/>
          </a:stretch>
        </p:blipFill>
        <p:spPr>
          <a:xfrm>
            <a:off x="3486150" y="1285875"/>
            <a:ext cx="2143125" cy="2143125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22231" y="1678781"/>
            <a:ext cx="1785938" cy="178593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28625" y="714375"/>
            <a:ext cx="2286000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THE
PROBLEM</a:t>
            </a:r>
            <a:endParaRPr lang="en-US" sz="2862" dirty="0"/>
          </a:p>
        </p:txBody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857250"/>
            <a:ext cx="571500" cy="571500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3429000" y="1714500"/>
            <a:ext cx="5000625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24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Gas leaks from LPG cylinders can cause </a:t>
            </a:r>
            <a:r>
              <a:rPr lang="en-US" sz="1808" b="1" dirty="0">
                <a:solidFill>
                  <a:srgbClr val="FF6B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fires, explosions</a:t>
            </a:r>
            <a:r>
              <a:rPr lang="en-US" sz="1924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and severe </a:t>
            </a:r>
            <a:r>
              <a:rPr lang="en-US" sz="1808" b="1" dirty="0">
                <a:solidFill>
                  <a:srgbClr val="FF6B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burn injuries</a:t>
            </a:r>
            <a:r>
              <a:rPr lang="en-US" sz="1924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924" dirty="0"/>
          </a:p>
        </p:txBody>
      </p:sp>
      <p:sp>
        <p:nvSpPr>
          <p:cNvPr id="7" name="Text 3"/>
          <p:cNvSpPr/>
          <p:nvPr/>
        </p:nvSpPr>
        <p:spPr>
          <a:xfrm>
            <a:off x="3429000" y="3223227"/>
            <a:ext cx="5000625" cy="10801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1924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Many households in Rwanda are adopting LPG cooking but </a:t>
            </a:r>
            <a:r>
              <a:rPr lang="en-US" sz="1808" b="1" dirty="0">
                <a:solidFill>
                  <a:srgbClr val="FF6B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lack advanced gas safety systems</a:t>
            </a:r>
            <a:r>
              <a:rPr lang="en-US" sz="1924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.</a:t>
            </a:r>
            <a:endParaRPr lang="en-US" sz="1924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373386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 STATISTICS IN RWANDA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571500" y="917972"/>
            <a:ext cx="7742506" cy="13535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100"/>
              </a:lnSpc>
            </a:pPr>
            <a:r>
              <a:rPr lang="en-US" sz="834" dirty="0">
                <a:solidFill>
                  <a:srgbClr val="FFFFFF">
                    <a:alpha val="7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Source: CHUK Burn Injury Study (2018) East and Central African Journal of Surgery</a:t>
            </a:r>
            <a:endParaRPr lang="en-US" sz="834" dirty="0"/>
          </a:p>
        </p:txBody>
      </p:sp>
      <p:sp>
        <p:nvSpPr>
          <p:cNvPr id="6" name="Text 3"/>
          <p:cNvSpPr/>
          <p:nvPr/>
        </p:nvSpPr>
        <p:spPr>
          <a:xfrm>
            <a:off x="571500" y="1802011"/>
            <a:ext cx="189309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504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9%</a:t>
            </a:r>
            <a:endParaRPr lang="en-US" sz="3504" dirty="0"/>
          </a:p>
        </p:txBody>
      </p:sp>
      <p:sp>
        <p:nvSpPr>
          <p:cNvPr id="7" name="Text 4"/>
          <p:cNvSpPr/>
          <p:nvPr/>
        </p:nvSpPr>
        <p:spPr>
          <a:xfrm>
            <a:off x="571500" y="2344936"/>
            <a:ext cx="18930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Burn Hospital Admissions</a:t>
            </a:r>
            <a:endParaRPr lang="en-US" sz="885" dirty="0"/>
          </a:p>
        </p:txBody>
      </p:sp>
      <p:sp>
        <p:nvSpPr>
          <p:cNvPr id="8" name="Text 5"/>
          <p:cNvSpPr/>
          <p:nvPr/>
        </p:nvSpPr>
        <p:spPr>
          <a:xfrm>
            <a:off x="2607469" y="1802011"/>
            <a:ext cx="189309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504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53%</a:t>
            </a:r>
            <a:endParaRPr lang="en-US" sz="3504" dirty="0"/>
          </a:p>
        </p:txBody>
      </p:sp>
      <p:sp>
        <p:nvSpPr>
          <p:cNvPr id="9" name="Text 6"/>
          <p:cNvSpPr/>
          <p:nvPr/>
        </p:nvSpPr>
        <p:spPr>
          <a:xfrm>
            <a:off x="2607469" y="2344936"/>
            <a:ext cx="18930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Incidents Caused by Leaks</a:t>
            </a:r>
            <a:endParaRPr lang="en-US" sz="885" dirty="0"/>
          </a:p>
        </p:txBody>
      </p:sp>
      <p:sp>
        <p:nvSpPr>
          <p:cNvPr id="10" name="Text 7"/>
          <p:cNvSpPr/>
          <p:nvPr/>
        </p:nvSpPr>
        <p:spPr>
          <a:xfrm>
            <a:off x="4643438" y="1802011"/>
            <a:ext cx="189309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504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42%</a:t>
            </a:r>
            <a:endParaRPr lang="en-US" sz="3504" dirty="0"/>
          </a:p>
        </p:txBody>
      </p:sp>
      <p:sp>
        <p:nvSpPr>
          <p:cNvPr id="11" name="Text 8"/>
          <p:cNvSpPr/>
          <p:nvPr/>
        </p:nvSpPr>
        <p:spPr>
          <a:xfrm>
            <a:off x="4643438" y="2344936"/>
            <a:ext cx="18930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Cylinder Explosions</a:t>
            </a:r>
            <a:endParaRPr lang="en-US" sz="885" dirty="0"/>
          </a:p>
        </p:txBody>
      </p:sp>
      <p:sp>
        <p:nvSpPr>
          <p:cNvPr id="12" name="Text 9"/>
          <p:cNvSpPr/>
          <p:nvPr/>
        </p:nvSpPr>
        <p:spPr>
          <a:xfrm>
            <a:off x="6679406" y="1802011"/>
            <a:ext cx="1893094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3600"/>
              </a:lnSpc>
              <a:buNone/>
            </a:pPr>
            <a:r>
              <a:rPr lang="en-US" sz="3504" dirty="0">
                <a:solidFill>
                  <a:srgbClr val="FF6B3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58%</a:t>
            </a:r>
            <a:endParaRPr lang="en-US" sz="3504" dirty="0"/>
          </a:p>
        </p:txBody>
      </p:sp>
      <p:sp>
        <p:nvSpPr>
          <p:cNvPr id="13" name="Text 10"/>
          <p:cNvSpPr/>
          <p:nvPr/>
        </p:nvSpPr>
        <p:spPr>
          <a:xfrm>
            <a:off x="6679406" y="2344936"/>
            <a:ext cx="1893094" cy="19288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Accidents Inside Homes</a:t>
            </a:r>
            <a:endParaRPr lang="en-US" sz="885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125" y="2966442"/>
            <a:ext cx="7143750" cy="21431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203982" y="714375"/>
            <a:ext cx="2510643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CURRENT
LIMITATIONS</a:t>
            </a:r>
            <a:endParaRPr lang="en-US" sz="2862" dirty="0"/>
          </a:p>
        </p:txBody>
      </p:sp>
      <p:sp>
        <p:nvSpPr>
          <p:cNvPr id="5" name="Shape 2"/>
          <p:cNvSpPr/>
          <p:nvPr/>
        </p:nvSpPr>
        <p:spPr>
          <a:xfrm>
            <a:off x="3286125" y="857250"/>
            <a:ext cx="714375" cy="714375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1042988"/>
            <a:ext cx="428625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6250" y="857250"/>
            <a:ext cx="42862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PASSIVE DETECTION</a:t>
            </a:r>
            <a:endParaRPr lang="en-US" sz="1602" dirty="0"/>
          </a:p>
        </p:txBody>
      </p:sp>
      <p:sp>
        <p:nvSpPr>
          <p:cNvPr id="8" name="Text 4"/>
          <p:cNvSpPr/>
          <p:nvPr/>
        </p:nvSpPr>
        <p:spPr>
          <a:xfrm>
            <a:off x="4286250" y="1243013"/>
            <a:ext cx="4286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Most gas alarms only </a:t>
            </a:r>
            <a:r>
              <a:rPr lang="en-US" sz="1193" b="1" dirty="0">
                <a:solidFill>
                  <a:srgbClr val="FF6B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 gas</a:t>
            </a: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and produce </a:t>
            </a:r>
            <a:r>
              <a:rPr lang="en-US" sz="1193" b="1" dirty="0">
                <a:solidFill>
                  <a:srgbClr val="FF6B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sound alerts</a:t>
            </a: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, which are useless if no one is home.</a:t>
            </a:r>
            <a:endParaRPr lang="en-US" sz="1269" dirty="0"/>
          </a:p>
        </p:txBody>
      </p:sp>
      <p:sp>
        <p:nvSpPr>
          <p:cNvPr id="9" name="Shape 5"/>
          <p:cNvSpPr/>
          <p:nvPr/>
        </p:nvSpPr>
        <p:spPr>
          <a:xfrm>
            <a:off x="3286125" y="2328863"/>
            <a:ext cx="714375" cy="714375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71863" y="2514600"/>
            <a:ext cx="342900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86250" y="2328863"/>
            <a:ext cx="42862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 ACTIVE RESPONSE</a:t>
            </a:r>
            <a:endParaRPr lang="en-US" sz="1602" dirty="0"/>
          </a:p>
        </p:txBody>
      </p:sp>
      <p:sp>
        <p:nvSpPr>
          <p:cNvPr id="12" name="Text 7"/>
          <p:cNvSpPr/>
          <p:nvPr/>
        </p:nvSpPr>
        <p:spPr>
          <a:xfrm>
            <a:off x="4286250" y="2714625"/>
            <a:ext cx="4286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They do </a:t>
            </a:r>
            <a:r>
              <a:rPr lang="en-US" sz="1193" b="1" dirty="0">
                <a:solidFill>
                  <a:srgbClr val="FF6B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not reduce</a:t>
            </a: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gas concentration and </a:t>
            </a:r>
            <a:r>
              <a:rPr lang="en-US" sz="1193" b="1" dirty="0">
                <a:solidFill>
                  <a:srgbClr val="FF6B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cannot stop</a:t>
            </a: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the gas source automatically.</a:t>
            </a:r>
            <a:endParaRPr lang="en-US" sz="1269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857500" cy="5143500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28625" y="571500"/>
            <a:ext cx="2428875" cy="123439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OUR
SOLUTION:
AGAS</a:t>
            </a:r>
            <a:endParaRPr lang="en-US" sz="2436" dirty="0"/>
          </a:p>
        </p:txBody>
      </p:sp>
      <p:sp>
        <p:nvSpPr>
          <p:cNvPr id="5" name="Text 2"/>
          <p:cNvSpPr/>
          <p:nvPr/>
        </p:nvSpPr>
        <p:spPr>
          <a:xfrm>
            <a:off x="428625" y="2291665"/>
            <a:ext cx="2428875" cy="94297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900"/>
              </a:lnSpc>
              <a:buNone/>
            </a:pPr>
            <a:r>
              <a:rPr lang="en-US" sz="1159" dirty="0">
                <a:solidFill>
                  <a:srgbClr val="FFFFFF">
                    <a:alpha val="9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smart IoT gas safety system that detects leaks and automatically responds to prevent fire or explosion.</a:t>
            </a:r>
            <a:endParaRPr lang="en-US" sz="1159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86125" y="635794"/>
            <a:ext cx="285750" cy="285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286125" y="1107281"/>
            <a:ext cx="173771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DETECTS GAS LEAKS</a:t>
            </a:r>
            <a:endParaRPr lang="en-US" sz="1159" dirty="0"/>
          </a:p>
        </p:txBody>
      </p:sp>
      <p:sp>
        <p:nvSpPr>
          <p:cNvPr id="8" name="Text 4"/>
          <p:cNvSpPr/>
          <p:nvPr/>
        </p:nvSpPr>
        <p:spPr>
          <a:xfrm>
            <a:off x="3286125" y="1355527"/>
            <a:ext cx="2571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High-precision MQ sensors monitor LPG levels in real-time.</a:t>
            </a:r>
            <a:endParaRPr lang="en-US" sz="834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43625" y="635794"/>
            <a:ext cx="250031" cy="285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143625" y="1107281"/>
            <a:ext cx="168413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ACTIVATES ALARMS</a:t>
            </a:r>
            <a:endParaRPr lang="en-US" sz="1159" dirty="0"/>
          </a:p>
        </p:txBody>
      </p:sp>
      <p:sp>
        <p:nvSpPr>
          <p:cNvPr id="11" name="Text 6"/>
          <p:cNvSpPr/>
          <p:nvPr/>
        </p:nvSpPr>
        <p:spPr>
          <a:xfrm>
            <a:off x="6143625" y="1355527"/>
            <a:ext cx="2571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Instant local buzzer and LED alerts when danger is detected.</a:t>
            </a:r>
            <a:endParaRPr lang="en-US" sz="834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86125" y="2025588"/>
            <a:ext cx="285750" cy="285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286125" y="2497075"/>
            <a:ext cx="181272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STARTS VENTILATION</a:t>
            </a:r>
            <a:endParaRPr lang="en-US" sz="1159" dirty="0"/>
          </a:p>
        </p:txBody>
      </p:sp>
      <p:sp>
        <p:nvSpPr>
          <p:cNvPr id="14" name="Text 8"/>
          <p:cNvSpPr/>
          <p:nvPr/>
        </p:nvSpPr>
        <p:spPr>
          <a:xfrm>
            <a:off x="3286125" y="2745321"/>
            <a:ext cx="2571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Automatic fan activation to reduce gas concentration immediately.</a:t>
            </a:r>
            <a:endParaRPr lang="en-US" sz="834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143625" y="2025588"/>
            <a:ext cx="357188" cy="285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143625" y="2497075"/>
            <a:ext cx="1750219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WIFI NOTIFICATIONS</a:t>
            </a:r>
            <a:endParaRPr lang="en-US" sz="1159" dirty="0"/>
          </a:p>
        </p:txBody>
      </p:sp>
      <p:sp>
        <p:nvSpPr>
          <p:cNvPr id="17" name="Text 10"/>
          <p:cNvSpPr/>
          <p:nvPr/>
        </p:nvSpPr>
        <p:spPr>
          <a:xfrm>
            <a:off x="6143625" y="2745321"/>
            <a:ext cx="257175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Instant alerts sent to users via the ESP microcontroller.</a:t>
            </a:r>
            <a:endParaRPr lang="en-US" sz="834" dirty="0"/>
          </a:p>
        </p:txBody>
      </p:sp>
      <p:sp>
        <p:nvSpPr>
          <p:cNvPr id="18" name="Shape 11"/>
          <p:cNvSpPr/>
          <p:nvPr/>
        </p:nvSpPr>
        <p:spPr>
          <a:xfrm>
            <a:off x="3286125" y="3351088"/>
            <a:ext cx="5429250" cy="1246919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Shape 12"/>
          <p:cNvSpPr/>
          <p:nvPr/>
        </p:nvSpPr>
        <p:spPr>
          <a:xfrm>
            <a:off x="3286125" y="3351088"/>
            <a:ext cx="42863" cy="1246919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29000" y="3558257"/>
            <a:ext cx="357188" cy="285750"/>
          </a:xfrm>
          <a:prstGeom prst="rect">
            <a:avLst/>
          </a:prstGeom>
        </p:spPr>
      </p:pic>
      <p:sp>
        <p:nvSpPr>
          <p:cNvPr id="21" name="Text 13"/>
          <p:cNvSpPr/>
          <p:nvPr/>
        </p:nvSpPr>
        <p:spPr>
          <a:xfrm>
            <a:off x="3429000" y="4029745"/>
            <a:ext cx="235565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1159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MECHANICAL GAS SHUTOFF</a:t>
            </a:r>
            <a:endParaRPr lang="en-US" sz="1159" dirty="0"/>
          </a:p>
        </p:txBody>
      </p:sp>
      <p:sp>
        <p:nvSpPr>
          <p:cNvPr id="22" name="Text 14"/>
          <p:cNvSpPr/>
          <p:nvPr/>
        </p:nvSpPr>
        <p:spPr>
          <a:xfrm>
            <a:off x="3429000" y="4277990"/>
            <a:ext cx="5143500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834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Uses a high-torque servo motor to physically rotate and close the gas valve, stopping the leak at its source.</a:t>
            </a:r>
            <a:endParaRPr lang="en-US" sz="834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18009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COMPONENTS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1454925" y="1503759"/>
            <a:ext cx="785813" cy="785813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69238" y="1718072"/>
            <a:ext cx="357188" cy="3571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309371" y="2446734"/>
            <a:ext cx="107692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ESP-F12 MCU</a:t>
            </a:r>
            <a:endParaRPr lang="en-US" sz="1159" dirty="0"/>
          </a:p>
        </p:txBody>
      </p:sp>
      <p:sp>
        <p:nvSpPr>
          <p:cNvPr id="8" name="Text 4"/>
          <p:cNvSpPr/>
          <p:nvPr/>
        </p:nvSpPr>
        <p:spPr>
          <a:xfrm>
            <a:off x="954863" y="2694980"/>
            <a:ext cx="1785938" cy="4500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main controller providing processing and WiFi connectivity.</a:t>
            </a:r>
            <a:endParaRPr lang="en-US" sz="780" dirty="0"/>
          </a:p>
        </p:txBody>
      </p:sp>
      <p:sp>
        <p:nvSpPr>
          <p:cNvPr id="9" name="Shape 5"/>
          <p:cNvSpPr/>
          <p:nvPr/>
        </p:nvSpPr>
        <p:spPr>
          <a:xfrm>
            <a:off x="4179066" y="1503759"/>
            <a:ext cx="785813" cy="785813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93378" y="1718072"/>
            <a:ext cx="357188" cy="35718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3869206" y="2446734"/>
            <a:ext cx="140553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MQ GAS SENSOR</a:t>
            </a:r>
            <a:endParaRPr lang="en-US" sz="1159" dirty="0"/>
          </a:p>
        </p:txBody>
      </p:sp>
      <p:sp>
        <p:nvSpPr>
          <p:cNvPr id="12" name="Text 7"/>
          <p:cNvSpPr/>
          <p:nvPr/>
        </p:nvSpPr>
        <p:spPr>
          <a:xfrm>
            <a:off x="3679003" y="2694980"/>
            <a:ext cx="1785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High-sensitivity detection of LPG and flammable gases.</a:t>
            </a:r>
            <a:endParaRPr lang="en-US" sz="780" dirty="0"/>
          </a:p>
        </p:txBody>
      </p:sp>
      <p:sp>
        <p:nvSpPr>
          <p:cNvPr id="13" name="Shape 8"/>
          <p:cNvSpPr/>
          <p:nvPr/>
        </p:nvSpPr>
        <p:spPr>
          <a:xfrm>
            <a:off x="6903234" y="1503759"/>
            <a:ext cx="785813" cy="785813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072899" y="1718072"/>
            <a:ext cx="446484" cy="35718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6633558" y="2446734"/>
            <a:ext cx="132516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BUZZER &amp; LEDS</a:t>
            </a:r>
            <a:endParaRPr lang="en-US" sz="1159" dirty="0"/>
          </a:p>
        </p:txBody>
      </p:sp>
      <p:sp>
        <p:nvSpPr>
          <p:cNvPr id="16" name="Text 10"/>
          <p:cNvSpPr/>
          <p:nvPr/>
        </p:nvSpPr>
        <p:spPr>
          <a:xfrm>
            <a:off x="6403172" y="2694980"/>
            <a:ext cx="1785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Immediate local audio and visual alert indicators.</a:t>
            </a:r>
            <a:endParaRPr lang="en-US" sz="780" dirty="0"/>
          </a:p>
        </p:txBody>
      </p:sp>
      <p:sp>
        <p:nvSpPr>
          <p:cNvPr id="17" name="Shape 11"/>
          <p:cNvSpPr/>
          <p:nvPr/>
        </p:nvSpPr>
        <p:spPr>
          <a:xfrm>
            <a:off x="1454925" y="3409355"/>
            <a:ext cx="785813" cy="785813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46913" y="3623667"/>
            <a:ext cx="401836" cy="357188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94191" y="4352330"/>
            <a:ext cx="110728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LCD DISPLAY</a:t>
            </a:r>
            <a:endParaRPr lang="en-US" sz="1159" dirty="0"/>
          </a:p>
        </p:txBody>
      </p:sp>
      <p:sp>
        <p:nvSpPr>
          <p:cNvPr id="20" name="Text 13"/>
          <p:cNvSpPr/>
          <p:nvPr/>
        </p:nvSpPr>
        <p:spPr>
          <a:xfrm>
            <a:off x="954863" y="4600575"/>
            <a:ext cx="1785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Real-time monitoring of gas levels and system status.</a:t>
            </a:r>
            <a:endParaRPr lang="en-US" sz="780" dirty="0"/>
          </a:p>
        </p:txBody>
      </p:sp>
      <p:sp>
        <p:nvSpPr>
          <p:cNvPr id="21" name="Shape 14"/>
          <p:cNvSpPr/>
          <p:nvPr/>
        </p:nvSpPr>
        <p:spPr>
          <a:xfrm>
            <a:off x="4179066" y="3409355"/>
            <a:ext cx="785813" cy="785813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93378" y="3623667"/>
            <a:ext cx="357188" cy="357188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3808484" y="4352330"/>
            <a:ext cx="152697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VENTILATION FAN</a:t>
            </a:r>
            <a:endParaRPr lang="en-US" sz="1159" dirty="0"/>
          </a:p>
        </p:txBody>
      </p:sp>
      <p:sp>
        <p:nvSpPr>
          <p:cNvPr id="24" name="Text 16"/>
          <p:cNvSpPr/>
          <p:nvPr/>
        </p:nvSpPr>
        <p:spPr>
          <a:xfrm>
            <a:off x="3679003" y="4600575"/>
            <a:ext cx="1785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Automatic air extraction to mitigate gas concentration.</a:t>
            </a:r>
            <a:endParaRPr lang="en-US" sz="780" dirty="0"/>
          </a:p>
        </p:txBody>
      </p:sp>
      <p:sp>
        <p:nvSpPr>
          <p:cNvPr id="25" name="Shape 17"/>
          <p:cNvSpPr/>
          <p:nvPr/>
        </p:nvSpPr>
        <p:spPr>
          <a:xfrm>
            <a:off x="6903234" y="3409355"/>
            <a:ext cx="785813" cy="785813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117547" y="3623667"/>
            <a:ext cx="357188" cy="357188"/>
          </a:xfrm>
          <a:prstGeom prst="rect">
            <a:avLst/>
          </a:prstGeom>
        </p:spPr>
      </p:pic>
      <p:sp>
        <p:nvSpPr>
          <p:cNvPr id="27" name="Text 18"/>
          <p:cNvSpPr/>
          <p:nvPr/>
        </p:nvSpPr>
        <p:spPr>
          <a:xfrm>
            <a:off x="6673741" y="4352330"/>
            <a:ext cx="124479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333333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SERVO MOTOR</a:t>
            </a:r>
            <a:endParaRPr lang="en-US" sz="1159" dirty="0"/>
          </a:p>
        </p:txBody>
      </p:sp>
      <p:sp>
        <p:nvSpPr>
          <p:cNvPr id="28" name="Text 19"/>
          <p:cNvSpPr/>
          <p:nvPr/>
        </p:nvSpPr>
        <p:spPr>
          <a:xfrm>
            <a:off x="6403172" y="4600575"/>
            <a:ext cx="1785938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200"/>
              </a:lnSpc>
              <a:buNone/>
            </a:pPr>
            <a:r>
              <a:rPr lang="en-US" sz="780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Mechanical actuator for automatic gas valve shutoff.</a:t>
            </a:r>
            <a:endParaRPr lang="en-US" sz="78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3429000" cy="5143500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28625" y="571500"/>
            <a:ext cx="3000375" cy="7200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121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SYSTEM
ARCHITECTURE</a:t>
            </a:r>
            <a:endParaRPr lang="en-US" sz="2121" dirty="0"/>
          </a:p>
        </p:txBody>
      </p:sp>
      <p:sp>
        <p:nvSpPr>
          <p:cNvPr id="5" name="Shape 2"/>
          <p:cNvSpPr/>
          <p:nvPr/>
        </p:nvSpPr>
        <p:spPr>
          <a:xfrm>
            <a:off x="428625" y="1921641"/>
            <a:ext cx="357188" cy="3571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781" y="2028797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8688" y="1920218"/>
            <a:ext cx="25003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Detection:</a:t>
            </a:r>
            <a:r>
              <a:rPr lang="en-US" sz="942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MQ Gas Sensor monitors LPG levels.</a:t>
            </a:r>
            <a:endParaRPr lang="en-US" sz="885" dirty="0"/>
          </a:p>
        </p:txBody>
      </p:sp>
      <p:sp>
        <p:nvSpPr>
          <p:cNvPr id="8" name="Shape 4"/>
          <p:cNvSpPr/>
          <p:nvPr/>
        </p:nvSpPr>
        <p:spPr>
          <a:xfrm>
            <a:off x="428625" y="2510275"/>
            <a:ext cx="357188" cy="3571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5781" y="2617431"/>
            <a:ext cx="142875" cy="14287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28688" y="2508852"/>
            <a:ext cx="25003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Processing:</a:t>
            </a:r>
            <a:r>
              <a:rPr lang="en-US" sz="942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ESP Microcontroller analyzes data.</a:t>
            </a:r>
            <a:endParaRPr lang="en-US" sz="885" dirty="0"/>
          </a:p>
        </p:txBody>
      </p:sp>
      <p:sp>
        <p:nvSpPr>
          <p:cNvPr id="11" name="Shape 6"/>
          <p:cNvSpPr/>
          <p:nvPr/>
        </p:nvSpPr>
        <p:spPr>
          <a:xfrm>
            <a:off x="428625" y="3098909"/>
            <a:ext cx="357188" cy="3571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53641" y="3206065"/>
            <a:ext cx="107156" cy="14287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28688" y="3097485"/>
            <a:ext cx="25003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Response:</a:t>
            </a:r>
            <a:r>
              <a:rPr lang="en-US" sz="942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Activates Alarm, Fan, and LCD.</a:t>
            </a:r>
            <a:endParaRPr lang="en-US" sz="885" dirty="0"/>
          </a:p>
        </p:txBody>
      </p:sp>
      <p:sp>
        <p:nvSpPr>
          <p:cNvPr id="14" name="Shape 8"/>
          <p:cNvSpPr/>
          <p:nvPr/>
        </p:nvSpPr>
        <p:spPr>
          <a:xfrm>
            <a:off x="428625" y="3687542"/>
            <a:ext cx="357188" cy="3571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7922" y="3794699"/>
            <a:ext cx="178594" cy="142875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928688" y="3686119"/>
            <a:ext cx="25003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Connectivity:</a:t>
            </a:r>
            <a:r>
              <a:rPr lang="en-US" sz="942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Sends WiFi alerts to users.</a:t>
            </a:r>
            <a:endParaRPr lang="en-US" sz="885" dirty="0"/>
          </a:p>
        </p:txBody>
      </p:sp>
      <p:sp>
        <p:nvSpPr>
          <p:cNvPr id="17" name="Shape 10"/>
          <p:cNvSpPr/>
          <p:nvPr/>
        </p:nvSpPr>
        <p:spPr>
          <a:xfrm>
            <a:off x="428625" y="4276176"/>
            <a:ext cx="357188" cy="3571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35781" y="4383332"/>
            <a:ext cx="142875" cy="142875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928688" y="4274753"/>
            <a:ext cx="2500313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885" b="1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Shutoff:</a:t>
            </a:r>
            <a:r>
              <a:rPr lang="en-US" sz="942" dirty="0">
                <a:solidFill>
                  <a:srgbClr val="FFFFFF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Servo motor closes the gas valve.</a:t>
            </a:r>
            <a:endParaRPr lang="en-US" sz="885" dirty="0"/>
          </a:p>
        </p:txBody>
      </p:sp>
      <p:sp>
        <p:nvSpPr>
          <p:cNvPr id="20" name="Text 12"/>
          <p:cNvSpPr/>
          <p:nvPr/>
        </p:nvSpPr>
        <p:spPr>
          <a:xfrm>
            <a:off x="3857625" y="571500"/>
            <a:ext cx="306645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269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HARDWARE INTERCONNECTIVITY</a:t>
            </a:r>
            <a:endParaRPr lang="en-US" sz="1269" dirty="0"/>
          </a:p>
        </p:txBody>
      </p:sp>
      <p:sp>
        <p:nvSpPr>
          <p:cNvPr id="21" name="Shape 13"/>
          <p:cNvSpPr/>
          <p:nvPr/>
        </p:nvSpPr>
        <p:spPr>
          <a:xfrm>
            <a:off x="3964781" y="994767"/>
            <a:ext cx="4643438" cy="3214688"/>
          </a:xfrm>
          <a:prstGeom prst="rect">
            <a:avLst/>
          </a:prstGeom>
          <a:solidFill>
            <a:srgbClr val="F4F4F4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143375" y="1173361"/>
            <a:ext cx="428625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2714625" cy="5143500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428625" y="714375"/>
            <a:ext cx="2286000" cy="880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3500"/>
              </a:lnSpc>
              <a:buNone/>
            </a:pPr>
            <a:r>
              <a:rPr lang="en-US" sz="2862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IOT
CONNECTIVITY</a:t>
            </a:r>
            <a:endParaRPr lang="en-US" sz="2862" dirty="0"/>
          </a:p>
        </p:txBody>
      </p:sp>
      <p:sp>
        <p:nvSpPr>
          <p:cNvPr id="5" name="Shape 2"/>
          <p:cNvSpPr/>
          <p:nvPr/>
        </p:nvSpPr>
        <p:spPr>
          <a:xfrm>
            <a:off x="3286125" y="885825"/>
            <a:ext cx="714375" cy="714375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50431" y="1071563"/>
            <a:ext cx="385763" cy="3429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286250" y="885825"/>
            <a:ext cx="42862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ESP-F12 Integration</a:t>
            </a:r>
            <a:endParaRPr lang="en-US" sz="1602" dirty="0"/>
          </a:p>
        </p:txBody>
      </p:sp>
      <p:sp>
        <p:nvSpPr>
          <p:cNvPr id="8" name="Text 4"/>
          <p:cNvSpPr/>
          <p:nvPr/>
        </p:nvSpPr>
        <p:spPr>
          <a:xfrm>
            <a:off x="4286250" y="1271588"/>
            <a:ext cx="42862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core of our IoT ecosystem, enabling </a:t>
            </a:r>
            <a:r>
              <a:rPr lang="en-US" sz="1193" b="1" dirty="0">
                <a:solidFill>
                  <a:srgbClr val="FF6B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seamless wireless communication</a:t>
            </a: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between the hardware and the cloud.</a:t>
            </a:r>
            <a:endParaRPr lang="en-US" sz="1269" dirty="0"/>
          </a:p>
        </p:txBody>
      </p:sp>
      <p:sp>
        <p:nvSpPr>
          <p:cNvPr id="9" name="Shape 5"/>
          <p:cNvSpPr/>
          <p:nvPr/>
        </p:nvSpPr>
        <p:spPr>
          <a:xfrm>
            <a:off x="3286125" y="2328863"/>
            <a:ext cx="714375" cy="714375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4725" y="2514600"/>
            <a:ext cx="257175" cy="3429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86250" y="2328863"/>
            <a:ext cx="42862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Real-time Alerts</a:t>
            </a:r>
            <a:endParaRPr lang="en-US" sz="1602" dirty="0"/>
          </a:p>
        </p:txBody>
      </p:sp>
      <p:sp>
        <p:nvSpPr>
          <p:cNvPr id="12" name="Text 7"/>
          <p:cNvSpPr/>
          <p:nvPr/>
        </p:nvSpPr>
        <p:spPr>
          <a:xfrm>
            <a:off x="4286250" y="2714625"/>
            <a:ext cx="4286250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Instant </a:t>
            </a:r>
            <a:r>
              <a:rPr lang="en-US" sz="1193" b="1" dirty="0">
                <a:solidFill>
                  <a:srgbClr val="FF6B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push notifications</a:t>
            </a: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sent directly to smartphones the moment a gas leak is detected.</a:t>
            </a:r>
            <a:endParaRPr lang="en-US" sz="1269" dirty="0"/>
          </a:p>
        </p:txBody>
      </p:sp>
      <p:sp>
        <p:nvSpPr>
          <p:cNvPr id="13" name="Shape 8"/>
          <p:cNvSpPr/>
          <p:nvPr/>
        </p:nvSpPr>
        <p:spPr>
          <a:xfrm>
            <a:off x="3286125" y="3514725"/>
            <a:ext cx="714375" cy="714375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71863" y="3700463"/>
            <a:ext cx="342900" cy="34290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4286250" y="3514725"/>
            <a:ext cx="4286250" cy="27860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Remote Monitoring</a:t>
            </a:r>
            <a:endParaRPr lang="en-US" sz="1602" dirty="0"/>
          </a:p>
        </p:txBody>
      </p:sp>
      <p:sp>
        <p:nvSpPr>
          <p:cNvPr id="16" name="Text 10"/>
          <p:cNvSpPr/>
          <p:nvPr/>
        </p:nvSpPr>
        <p:spPr>
          <a:xfrm>
            <a:off x="4286250" y="3900488"/>
            <a:ext cx="4286250" cy="7715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Users can monitor gas levels and system status from </a:t>
            </a:r>
            <a:r>
              <a:rPr lang="en-US" sz="1193" b="1" dirty="0">
                <a:solidFill>
                  <a:srgbClr val="FF6B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anywhere in the world</a:t>
            </a:r>
            <a:r>
              <a:rPr lang="en-US" sz="1269" dirty="0">
                <a:solidFill>
                  <a:srgbClr val="333333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 via a dedicated mobile interface.</a:t>
            </a:r>
            <a:endParaRPr lang="en-US" sz="1269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9144000" cy="1218009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/>
          <p:nvPr/>
        </p:nvSpPr>
        <p:spPr>
          <a:xfrm>
            <a:off x="571500" y="428625"/>
            <a:ext cx="8572500" cy="417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SAFETY RESPONSE PROTOCOL</a:t>
            </a:r>
            <a:endParaRPr lang="en-US" sz="2436" dirty="0"/>
          </a:p>
        </p:txBody>
      </p:sp>
      <p:sp>
        <p:nvSpPr>
          <p:cNvPr id="5" name="Shape 2"/>
          <p:cNvSpPr/>
          <p:nvPr/>
        </p:nvSpPr>
        <p:spPr>
          <a:xfrm>
            <a:off x="1321594" y="1789509"/>
            <a:ext cx="357188" cy="3571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1321594" y="1789509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269" dirty="0"/>
          </a:p>
        </p:txBody>
      </p:sp>
      <p:sp>
        <p:nvSpPr>
          <p:cNvPr id="7" name="Shape 4"/>
          <p:cNvSpPr/>
          <p:nvPr/>
        </p:nvSpPr>
        <p:spPr>
          <a:xfrm>
            <a:off x="1071563" y="2289572"/>
            <a:ext cx="857250" cy="857250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43918" y="2539603"/>
            <a:ext cx="312539" cy="35718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901898" y="3318272"/>
            <a:ext cx="119657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ALARM ALERT</a:t>
            </a:r>
            <a:endParaRPr lang="en-US" sz="1159" dirty="0"/>
          </a:p>
        </p:txBody>
      </p:sp>
      <p:sp>
        <p:nvSpPr>
          <p:cNvPr id="10" name="Text 6"/>
          <p:cNvSpPr/>
          <p:nvPr/>
        </p:nvSpPr>
        <p:spPr>
          <a:xfrm>
            <a:off x="571500" y="3595092"/>
            <a:ext cx="18573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Immediate activation of the local buzzer and visual LED indicators.</a:t>
            </a:r>
            <a:endParaRPr lang="en-US" sz="834" dirty="0"/>
          </a:p>
        </p:txBody>
      </p:sp>
      <p:sp>
        <p:nvSpPr>
          <p:cNvPr id="11" name="Shape 7"/>
          <p:cNvSpPr/>
          <p:nvPr/>
        </p:nvSpPr>
        <p:spPr>
          <a:xfrm>
            <a:off x="3369450" y="1789509"/>
            <a:ext cx="357188" cy="3571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3369450" y="1789509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269" dirty="0"/>
          </a:p>
        </p:txBody>
      </p:sp>
      <p:sp>
        <p:nvSpPr>
          <p:cNvPr id="13" name="Shape 9"/>
          <p:cNvSpPr/>
          <p:nvPr/>
        </p:nvSpPr>
        <p:spPr>
          <a:xfrm>
            <a:off x="3119419" y="2289572"/>
            <a:ext cx="857250" cy="857250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69450" y="2539603"/>
            <a:ext cx="357188" cy="35718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981902" y="3318272"/>
            <a:ext cx="113228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VENTILATION</a:t>
            </a:r>
            <a:endParaRPr lang="en-US" sz="1159" dirty="0"/>
          </a:p>
        </p:txBody>
      </p:sp>
      <p:sp>
        <p:nvSpPr>
          <p:cNvPr id="16" name="Text 11"/>
          <p:cNvSpPr/>
          <p:nvPr/>
        </p:nvSpPr>
        <p:spPr>
          <a:xfrm>
            <a:off x="2619356" y="3595092"/>
            <a:ext cx="18573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fan turns on automatically to extract gas and reduce concentration.</a:t>
            </a:r>
            <a:endParaRPr lang="en-US" sz="834" dirty="0"/>
          </a:p>
        </p:txBody>
      </p:sp>
      <p:sp>
        <p:nvSpPr>
          <p:cNvPr id="17" name="Shape 12"/>
          <p:cNvSpPr/>
          <p:nvPr/>
        </p:nvSpPr>
        <p:spPr>
          <a:xfrm>
            <a:off x="5417307" y="1789509"/>
            <a:ext cx="357188" cy="3571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3"/>
          <p:cNvSpPr/>
          <p:nvPr/>
        </p:nvSpPr>
        <p:spPr>
          <a:xfrm>
            <a:off x="5417307" y="1789509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269" dirty="0"/>
          </a:p>
        </p:txBody>
      </p:sp>
      <p:sp>
        <p:nvSpPr>
          <p:cNvPr id="19" name="Shape 14"/>
          <p:cNvSpPr/>
          <p:nvPr/>
        </p:nvSpPr>
        <p:spPr>
          <a:xfrm>
            <a:off x="5167275" y="2289572"/>
            <a:ext cx="857250" cy="857250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72658" y="2539603"/>
            <a:ext cx="446484" cy="3571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4991360" y="3318272"/>
            <a:ext cx="1209080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NOTIFICATION</a:t>
            </a:r>
            <a:endParaRPr lang="en-US" sz="1159" dirty="0"/>
          </a:p>
        </p:txBody>
      </p:sp>
      <p:sp>
        <p:nvSpPr>
          <p:cNvPr id="22" name="Text 16"/>
          <p:cNvSpPr/>
          <p:nvPr/>
        </p:nvSpPr>
        <p:spPr>
          <a:xfrm>
            <a:off x="4667213" y="3595092"/>
            <a:ext cx="1857375" cy="32001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critical alert is sent to the user's smartphone via WiFi.</a:t>
            </a:r>
            <a:endParaRPr lang="en-US" sz="834" dirty="0"/>
          </a:p>
        </p:txBody>
      </p:sp>
      <p:sp>
        <p:nvSpPr>
          <p:cNvPr id="23" name="Shape 17"/>
          <p:cNvSpPr/>
          <p:nvPr/>
        </p:nvSpPr>
        <p:spPr>
          <a:xfrm>
            <a:off x="7465163" y="1789509"/>
            <a:ext cx="357188" cy="357188"/>
          </a:xfrm>
          <a:prstGeom prst="rect">
            <a:avLst/>
          </a:prstGeom>
          <a:solidFill>
            <a:srgbClr val="FF6B35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Text 18"/>
          <p:cNvSpPr/>
          <p:nvPr/>
        </p:nvSpPr>
        <p:spPr>
          <a:xfrm>
            <a:off x="7465163" y="1789509"/>
            <a:ext cx="357188" cy="3571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4</a:t>
            </a:r>
            <a:endParaRPr lang="en-US" sz="1269" dirty="0"/>
          </a:p>
        </p:txBody>
      </p:sp>
      <p:sp>
        <p:nvSpPr>
          <p:cNvPr id="25" name="Shape 19"/>
          <p:cNvSpPr/>
          <p:nvPr/>
        </p:nvSpPr>
        <p:spPr>
          <a:xfrm>
            <a:off x="7215132" y="2289572"/>
            <a:ext cx="857250" cy="857250"/>
          </a:xfrm>
          <a:prstGeom prst="rect">
            <a:avLst/>
          </a:prstGeom>
          <a:solidFill>
            <a:srgbClr val="0A192F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65163" y="2539603"/>
            <a:ext cx="357188" cy="35718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7055290" y="3318272"/>
            <a:ext cx="117693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9" dirty="0">
                <a:solidFill>
                  <a:srgbClr val="0A192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GAS SHUTOFF</a:t>
            </a:r>
            <a:endParaRPr lang="en-US" sz="1159" dirty="0"/>
          </a:p>
        </p:txBody>
      </p:sp>
      <p:sp>
        <p:nvSpPr>
          <p:cNvPr id="28" name="Text 21"/>
          <p:cNvSpPr/>
          <p:nvPr/>
        </p:nvSpPr>
        <p:spPr>
          <a:xfrm>
            <a:off x="6715069" y="3595092"/>
            <a:ext cx="1857375" cy="4800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834" dirty="0">
                <a:solidFill>
                  <a:srgbClr val="666666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The servo motor rotates to mechanically close the gas valve.</a:t>
            </a:r>
            <a:endParaRPr lang="en-US" sz="834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2471738" y="695985"/>
            <a:ext cx="4200525" cy="5029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IMPACT &amp; VISION</a:t>
            </a:r>
            <a:endParaRPr lang="en-US" sz="3294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6641" y="1866835"/>
            <a:ext cx="535781" cy="42862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068884" y="2627644"/>
            <a:ext cx="1791295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ENHANCED SAFETY</a:t>
            </a:r>
            <a:endParaRPr lang="en-US" sz="1269" dirty="0"/>
          </a:p>
        </p:txBody>
      </p:sp>
      <p:sp>
        <p:nvSpPr>
          <p:cNvPr id="6" name="Text 2"/>
          <p:cNvSpPr/>
          <p:nvPr/>
        </p:nvSpPr>
        <p:spPr>
          <a:xfrm>
            <a:off x="892969" y="2979474"/>
            <a:ext cx="21431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Significantly reduces the risk of gas-related fires and injuries in Rwandan homes.</a:t>
            </a:r>
            <a:endParaRPr lang="en-US" sz="942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38055" y="1866835"/>
            <a:ext cx="267891" cy="428625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677245" y="2627644"/>
            <a:ext cx="178950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AFFORDABLE TECH</a:t>
            </a:r>
            <a:endParaRPr lang="en-US" sz="1269" dirty="0"/>
          </a:p>
        </p:txBody>
      </p:sp>
      <p:sp>
        <p:nvSpPr>
          <p:cNvPr id="9" name="Text 4"/>
          <p:cNvSpPr/>
          <p:nvPr/>
        </p:nvSpPr>
        <p:spPr>
          <a:xfrm>
            <a:off x="3500438" y="2979474"/>
            <a:ext cx="21431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Demonstrates how low-cost IoT components can solve critical safety challenges.</a:t>
            </a:r>
            <a:endParaRPr lang="en-US" sz="942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91945" y="1866835"/>
            <a:ext cx="375047" cy="428625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6202561" y="2627644"/>
            <a:ext cx="1953816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SCALABLE SOLUTION</a:t>
            </a:r>
            <a:endParaRPr lang="en-US" sz="1269" dirty="0"/>
          </a:p>
        </p:txBody>
      </p:sp>
      <p:sp>
        <p:nvSpPr>
          <p:cNvPr id="12" name="Text 6"/>
          <p:cNvSpPr/>
          <p:nvPr/>
        </p:nvSpPr>
        <p:spPr>
          <a:xfrm>
            <a:off x="6107906" y="2979474"/>
            <a:ext cx="2143125" cy="5786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942" dirty="0">
                <a:solidFill>
                  <a:srgbClr val="FFFFFF">
                    <a:alpha val="80000"/>
                  </a:srgbClr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A modular design that can be easily integrated into any home or industrial setting.</a:t>
            </a:r>
            <a:endParaRPr lang="en-US" sz="942" dirty="0"/>
          </a:p>
        </p:txBody>
      </p:sp>
      <p:sp>
        <p:nvSpPr>
          <p:cNvPr id="13" name="Text 7"/>
          <p:cNvSpPr/>
          <p:nvPr/>
        </p:nvSpPr>
        <p:spPr>
          <a:xfrm>
            <a:off x="1714500" y="4272493"/>
            <a:ext cx="5715000" cy="517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69" kern="0" spc="2" dirty="0">
                <a:solidFill>
                  <a:srgbClr val="FF6B35"/>
                </a:solidFill>
                <a:latin typeface="Poppins" pitchFamily="34" charset="0"/>
                <a:ea typeface="Poppins" pitchFamily="34" charset="-122"/>
                <a:cs typeface="Poppins" pitchFamily="34" charset="-120"/>
              </a:rPr>
              <a:t>“SMART TECHNOLOGY CAN TURN EVERYDAY KITCHENS INTO SAFER ENVIRONMENTS.”</a:t>
            </a:r>
            <a:endParaRPr lang="en-US" sz="1269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530</Words>
  <Application>Microsoft Office PowerPoint</Application>
  <PresentationFormat>On-screen Show (16:9)</PresentationFormat>
  <Paragraphs>91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Montserrat</vt:lpstr>
      <vt:lpstr>Poppins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DANNY JOHN</cp:lastModifiedBy>
  <cp:revision>3</cp:revision>
  <dcterms:created xsi:type="dcterms:W3CDTF">2026-03-06T18:26:37Z</dcterms:created>
  <dcterms:modified xsi:type="dcterms:W3CDTF">2026-03-07T14:08:58Z</dcterms:modified>
</cp:coreProperties>
</file>